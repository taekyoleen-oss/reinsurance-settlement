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91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재보험 정청산 관리 시스템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6093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Reinsurance Settlement Management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66544"/>
            <a:ext cx="29260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등록부터 회계 마감까지 — 8단계 완전 자동화 정산 워크플로우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1920240" cy="384048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05456" y="2697480"/>
            <a:ext cx="1920240" cy="384048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505456" y="2697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53712" y="2697480"/>
            <a:ext cx="1920240" cy="384048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01968" y="2697480"/>
            <a:ext cx="1920240" cy="384048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01968" y="2697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shadcn/ui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브로커 실무자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05456" y="324612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505456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브로커 관리자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53712" y="324612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53712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출재사 뷰어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01968" y="324612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601968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수재사 뷰어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v1.4  |  2026-04-30  |  보험중개사 전용 싱글 테넌트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34"/>
          </a:solidFill>
          <a:ln w="12700">
            <a:solidFill>
              <a:srgbClr val="162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8단계 정산 프로세스 + 핵심 기능 안내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8686800" cy="393192"/>
          </a:xfrm>
          <a:prstGeom prst="rect">
            <a:avLst/>
          </a:prstGeom>
          <a:solidFill>
            <a:srgbClr val="243554"/>
          </a:solidFill>
          <a:ln w="6350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896112"/>
            <a:ext cx="658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" y="89611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개요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4920" y="89611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역할 4종 · 화면 구성 · 사이드바 메뉴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307592"/>
            <a:ext cx="8686800" cy="393192"/>
          </a:xfrm>
          <a:prstGeom prst="rect">
            <a:avLst/>
          </a:prstGeom>
          <a:solidFill>
            <a:srgbClr val="2A3F61"/>
          </a:solidFill>
          <a:ln w="6350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0040" y="1307592"/>
            <a:ext cx="658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33272" y="130759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계약(특약) 등록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30759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Treaty Setup — 출재비율 · 수수료율 · 정산주기 설정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1719072"/>
            <a:ext cx="8686800" cy="393192"/>
          </a:xfrm>
          <a:prstGeom prst="rect">
            <a:avLst/>
          </a:prstGeom>
          <a:solidFill>
            <a:srgbClr val="243554"/>
          </a:solidFill>
          <a:ln w="6350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0040" y="1719072"/>
            <a:ext cx="658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33272" y="171907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입력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171907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Bordereau — 보험료 명세 · 손해 명세 · CSV 업로드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130552"/>
            <a:ext cx="8686800" cy="393192"/>
          </a:xfrm>
          <a:prstGeom prst="rect">
            <a:avLst/>
          </a:prstGeom>
          <a:solidFill>
            <a:srgbClr val="2A3F61"/>
          </a:solidFill>
          <a:ln w="6350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2130552"/>
            <a:ext cx="658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33272" y="21305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기술계정 산출 &amp; 정산서 작성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213055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Technical Account 자동 집계 → SOA Draft 생성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542032"/>
            <a:ext cx="8686800" cy="393192"/>
          </a:xfrm>
          <a:prstGeom prst="rect">
            <a:avLst/>
          </a:prstGeom>
          <a:solidFill>
            <a:srgbClr val="243554"/>
          </a:solidFill>
          <a:ln w="6350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20040" y="2542032"/>
            <a:ext cx="658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33272" y="254203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및 승인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254203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승인 → 발행 → 외부 확인(Acknowledge) · 이의신청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2953512"/>
            <a:ext cx="8686800" cy="393192"/>
          </a:xfrm>
          <a:prstGeom prst="rect">
            <a:avLst/>
          </a:prstGeom>
          <a:solidFill>
            <a:srgbClr val="2A3F61"/>
          </a:solidFill>
          <a:ln w="6350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0040" y="2953512"/>
            <a:ext cx="658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3272" y="295351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처리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295351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Settlement — 송수금 등록 · SOA 매칭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3364992"/>
            <a:ext cx="8686800" cy="393192"/>
          </a:xfrm>
          <a:prstGeom prst="rect">
            <a:avLst/>
          </a:prstGeom>
          <a:solidFill>
            <a:srgbClr val="243554"/>
          </a:solidFill>
          <a:ln w="6350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20040" y="3364992"/>
            <a:ext cx="658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33272" y="336499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미수·미지급금 관리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336499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AR/AP Outstanding · Aging 구간 분석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3776472"/>
            <a:ext cx="8686800" cy="393192"/>
          </a:xfrm>
          <a:prstGeom prst="rect">
            <a:avLst/>
          </a:prstGeom>
          <a:solidFill>
            <a:srgbClr val="2A3F61"/>
          </a:solidFill>
          <a:ln w="6350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20040" y="3776472"/>
            <a:ext cx="658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3272" y="377647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회계 마감 및 보고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74920" y="377647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 &amp; Reporting — PDF/CSV 내보내기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" y="4187952"/>
            <a:ext cx="8686800" cy="393192"/>
          </a:xfrm>
          <a:prstGeom prst="rect">
            <a:avLst/>
          </a:prstGeom>
          <a:solidFill>
            <a:srgbClr val="243554"/>
          </a:solidFill>
          <a:ln w="6350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20040" y="4187952"/>
            <a:ext cx="658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33272" y="41879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비즈니스 규칙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74920" y="418795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자동 검증 10가지 규칙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34"/>
          </a:solidFill>
          <a:ln w="12700">
            <a:solidFill>
              <a:srgbClr val="162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재보험 정산 업무를 단일 플랫폼에서 — 4가지 역할, 8단계 워크플로우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4288536" cy="1593515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3192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브로커 실무자 (Operator)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316736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등록 · 명세 입력 · 정산서 초안 작성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관리 · 결제 등록 · 보고서 조회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896112"/>
            <a:ext cx="4288536" cy="1593515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91456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브로커 관리자 (Manager)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91456" y="1316736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정산서 승인 · 송금 결재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현황 모니터링 · 마스터 데이터 관리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" y="2779776"/>
            <a:ext cx="4288536" cy="1593515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3192" y="288950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출재사 뷰어 (Cedant Viewer)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" y="3200400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발행된 정산서 열람 및 확인(Acknowledge)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이의신청(Dispute) · 공유 링크 접속(로그인 불필요)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2779776"/>
            <a:ext cx="4288536" cy="1593515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91456" y="288950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수재사 뷰어 (Reinsurer Viewer)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3200400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발행된 정산서 수령 · 열람 · 확인(Acknowledge)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링크(토큰 URL) 30일 유효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489704"/>
            <a:ext cx="1021842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489704"/>
            <a:ext cx="10218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4837176"/>
            <a:ext cx="1021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—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69314" y="4489704"/>
            <a:ext cx="1021842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369314" y="4489704"/>
            <a:ext cx="10218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관리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69314" y="4837176"/>
            <a:ext cx="1021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64308" y="4489704"/>
            <a:ext cx="1021842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464308" y="4489704"/>
            <a:ext cx="10218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입력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64308" y="4837176"/>
            <a:ext cx="1021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59302" y="4489704"/>
            <a:ext cx="1021842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559302" y="4489704"/>
            <a:ext cx="10218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관리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59302" y="4837176"/>
            <a:ext cx="1021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54296" y="4489704"/>
            <a:ext cx="1021842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654296" y="4489704"/>
            <a:ext cx="10218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정산서 관리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54296" y="4837176"/>
            <a:ext cx="1021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4~5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49290" y="4489704"/>
            <a:ext cx="1021842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749290" y="4489704"/>
            <a:ext cx="10218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관리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49290" y="4837176"/>
            <a:ext cx="1021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44284" y="4489704"/>
            <a:ext cx="1021842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844284" y="4489704"/>
            <a:ext cx="10218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미청산 잔액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44284" y="4837176"/>
            <a:ext cx="1021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7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39278" y="4489704"/>
            <a:ext cx="1021842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939278" y="4489704"/>
            <a:ext cx="10218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939278" y="4837176"/>
            <a:ext cx="1021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34"/>
          </a:solidFill>
          <a:ln w="12700">
            <a:solidFill>
              <a:srgbClr val="162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8단계 정산 프로세스 전체 흐름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등록부터 회계 마감까지 — 단계 순서 엄수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2103120" cy="1760220"/>
          </a:xfrm>
          <a:prstGeom prst="rect">
            <a:avLst/>
          </a:prstGeom>
          <a:solidFill>
            <a:srgbClr val="24355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28600" y="896112"/>
            <a:ext cx="21031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28600" y="896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" y="1207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등록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1752" y="15544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Treaty Setup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1752" y="24003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/contracts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31720" y="1757934"/>
            <a:ext cx="914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23160" y="896112"/>
            <a:ext cx="2103120" cy="1760220"/>
          </a:xfrm>
          <a:prstGeom prst="rect">
            <a:avLst/>
          </a:prstGeom>
          <a:solidFill>
            <a:srgbClr val="24355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423160" y="896112"/>
            <a:ext cx="21031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423160" y="896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96312" y="1207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입력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496312" y="15544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Bordereau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96312" y="24003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/bordereau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26280" y="1757934"/>
            <a:ext cx="914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17720" y="896112"/>
            <a:ext cx="2103120" cy="1760220"/>
          </a:xfrm>
          <a:prstGeom prst="rect">
            <a:avLst/>
          </a:prstGeom>
          <a:solidFill>
            <a:srgbClr val="24355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617720" y="896112"/>
            <a:ext cx="21031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617720" y="896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90872" y="1207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기술계정 산출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90872" y="15544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Technical Account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90872" y="24003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/account-currents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20840" y="1757934"/>
            <a:ext cx="914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812280" y="896112"/>
            <a:ext cx="2103120" cy="1760220"/>
          </a:xfrm>
          <a:prstGeom prst="rect">
            <a:avLst/>
          </a:prstGeom>
          <a:solidFill>
            <a:srgbClr val="24355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812280" y="896112"/>
            <a:ext cx="21031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812280" y="896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85432" y="1207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정산서 작성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85432" y="15544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SOA Draft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85432" y="24003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/account-currents/new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067812"/>
            <a:ext cx="2103120" cy="1760220"/>
          </a:xfrm>
          <a:prstGeom prst="rect">
            <a:avLst/>
          </a:prstGeom>
          <a:solidFill>
            <a:srgbClr val="24355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28600" y="3067812"/>
            <a:ext cx="21031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28600" y="30678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1752" y="33787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확인·승인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01752" y="37261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Confirmation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01752" y="45720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/account-currents/{id}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331720" y="3929634"/>
            <a:ext cx="914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423160" y="3067812"/>
            <a:ext cx="2103120" cy="1760220"/>
          </a:xfrm>
          <a:prstGeom prst="rect">
            <a:avLst/>
          </a:prstGeom>
          <a:solidFill>
            <a:srgbClr val="24355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423160" y="3067812"/>
            <a:ext cx="21031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2423160" y="30678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6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496312" y="33787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처리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2496312" y="37261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Settlement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496312" y="45720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/settlements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26280" y="3929634"/>
            <a:ext cx="914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617720" y="3067812"/>
            <a:ext cx="2103120" cy="1760220"/>
          </a:xfrm>
          <a:prstGeom prst="rect">
            <a:avLst/>
          </a:prstGeom>
          <a:solidFill>
            <a:srgbClr val="24355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617720" y="3067812"/>
            <a:ext cx="21031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617720" y="30678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7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690872" y="33787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미수·미지급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690872" y="37261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AR/AP &amp; Aging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90872" y="45720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/outstanding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20840" y="3929634"/>
            <a:ext cx="914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6812280" y="3067812"/>
            <a:ext cx="2103120" cy="1760220"/>
          </a:xfrm>
          <a:prstGeom prst="rect">
            <a:avLst/>
          </a:prstGeom>
          <a:solidFill>
            <a:srgbClr val="24355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812280" y="3067812"/>
            <a:ext cx="21031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6812280" y="30678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8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885432" y="33787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회계 마감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885432" y="37261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 &amp; Report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85432" y="45720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/reports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845552" y="2674620"/>
            <a:ext cx="36576" cy="3749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228600" y="2843784"/>
            <a:ext cx="78638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34"/>
          </a:solidFill>
          <a:ln w="12700">
            <a:solidFill>
              <a:srgbClr val="162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계약(특약) 등록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Treaty Setup — 이후 모든 정산 산출의 기준 정보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4160520" cy="173736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3192" y="1005840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입력 항목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316736"/>
            <a:ext cx="38313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정보: 계약번호 · 유형(Treaty/Fac) · 보험종목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거래상대방: 출재사 · 수재사 지분율(합계 반드시 100%)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기간·통화: 개시일 · 만기일 · 정산통화 · 정산주기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706624"/>
            <a:ext cx="4160520" cy="190195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93192" y="281635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입력 항목 (▶ 접힌 섹션 펼쳐서 입력)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3127248"/>
            <a:ext cx="38313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 체계: 출재수수료율(%) · 이익수수료율(%) · 중개수수료율(%)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적립금·이자: 보험료적립금율(%) · 손해적립금율(%) · 이자율(%)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조건: 지급기한(일) · Cash Loss 한도 · 상계 허용 여부 · 확인기한(일)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98848" y="896112"/>
            <a:ext cx="4416552" cy="192024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63440" y="1005840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경로 (6단계) — URL: /contracts/new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316736"/>
            <a:ext cx="40873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사이드바 → 계약 관리 (1) 클릭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+ 계약 등록 버튼 클릭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기본 정보 섹션 입력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수재사별 지분율(%) 입력 — 합계 100% 필수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수수료·적립금·정산조건 섹션 펼쳐 입력 (선택)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계약 등록 버튼 클릭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98848" y="2889504"/>
            <a:ext cx="1042416" cy="1938528"/>
          </a:xfrm>
          <a:prstGeom prst="rect">
            <a:avLst/>
          </a:prstGeom>
          <a:solidFill>
            <a:srgbClr val="2A3F61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63440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지분율 합계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310128"/>
            <a:ext cx="7132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수재사 지분율 합계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반드시 100%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23560" y="2889504"/>
            <a:ext cx="1042416" cy="1938528"/>
          </a:xfrm>
          <a:prstGeom prst="rect">
            <a:avLst/>
          </a:prstGeom>
          <a:solidFill>
            <a:srgbClr val="2A3F61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788152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기간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88152" y="3310128"/>
            <a:ext cx="7132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위험기간 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계약기간 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48272" y="2889504"/>
            <a:ext cx="1042416" cy="1938528"/>
          </a:xfrm>
          <a:prstGeom prst="rect">
            <a:avLst/>
          </a:prstGeom>
          <a:solidFill>
            <a:srgbClr val="2A3F61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912864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통화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12864" y="3310128"/>
            <a:ext cx="7132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통화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정산통화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72984" y="2889504"/>
            <a:ext cx="1042416" cy="1938528"/>
          </a:xfrm>
          <a:prstGeom prst="rect">
            <a:avLst/>
          </a:prstGeom>
          <a:solidFill>
            <a:srgbClr val="2A3F61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037576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37576" y="3310128"/>
            <a:ext cx="7132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 = active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명세 입력 가능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34"/>
          </a:solidFill>
          <a:ln w="12700">
            <a:solidFill>
              <a:srgbClr val="162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입력 (Bordereau)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원수계약 증권/사고 단위 출재 내역 추적 — 직접 입력 또는 CSV 업로드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4288536" cy="164592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3192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명세 (Premium Bordereau) — /bordereau/premium/new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475334"/>
            <a:ext cx="3959352" cy="99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· 회계기간(2026Q1 / S1 / A) · 증권번호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위험기간(계약기간 내) · 보험가입금액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원보험료 · 출재비율(%) → 출재보험료 자동계산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처리구분: 신규 / 취소 / 환급 / 조정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896112"/>
            <a:ext cx="4288536" cy="164592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91456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손해 명세 (Loss Bordereau) — /bordereau/loss/new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91456" y="1316736"/>
            <a:ext cx="3959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사고번호 · 사고발생일 / 보고일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지급보험금(Paid) · 미결손해(O/S Reserve)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재보험금 회수액: (Paid + O/S) × 출재비율 자동계산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Cash Loss 여부 · 손해 상태(진행중/지급완료/종결/거절)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615184"/>
            <a:ext cx="4288536" cy="182880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3192" y="272491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1: 직접 입력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" y="3035808"/>
            <a:ext cx="3959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사이드바 → 명세 입력 (2) 클릭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+ 보험료 명세 추가 / + 손해 명세 추가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각 필드 입력 — 자동계산 필드 확인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저장 클릭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2615184"/>
            <a:ext cx="4288536" cy="182880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91456" y="272491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2: CSV 일괄 업로드 (권장) — /bordereau/upload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3035808"/>
            <a:ext cx="3959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명세 입력 → CSV 업로드 버튼 클릭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명세 유형 선택 → 샘플 CSV 다운로드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데이터 입력 후 저장 (UTF-8, 숫자에 쉼표 금지)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계약 선택 → CSV 업로드 → 행별 검증 확인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오류(error) 라인 수정 후 재저장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4517136"/>
            <a:ext cx="2822448" cy="365760"/>
          </a:xfrm>
          <a:prstGeom prst="rect">
            <a:avLst/>
          </a:prstGeom>
          <a:solidFill>
            <a:srgbClr val="243554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28600" y="4517136"/>
            <a:ext cx="282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(valid)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60776" y="4517136"/>
            <a:ext cx="2822448" cy="365760"/>
          </a:xfrm>
          <a:prstGeom prst="rect">
            <a:avLst/>
          </a:prstGeom>
          <a:solidFill>
            <a:srgbClr val="243554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160776" y="4517136"/>
            <a:ext cx="282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(warning)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92952" y="4517136"/>
            <a:ext cx="2822448" cy="365760"/>
          </a:xfrm>
          <a:prstGeom prst="rect">
            <a:avLst/>
          </a:prstGeom>
          <a:solidFill>
            <a:srgbClr val="243554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092952" y="4517136"/>
            <a:ext cx="282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(error)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8600" y="49194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오류(error) 상태 라인은 정산서 집계 전에 반드시 수정 필요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34"/>
          </a:solidFill>
          <a:ln w="12700">
            <a:solidFill>
              <a:srgbClr val="162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기술계정 산출 &amp; 정산서 작성 (SOA)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명세·거래 자동 집계 → Account Current 생성 → 수재사 발송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4288536" cy="2395728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3192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정산서(SOA) 자동 집계 항목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316736"/>
            <a:ext cx="395935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출재보험료 (Credit)  ↑ 수재사가 받을 항목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출재수수료 (Debit)   ↓ 출재사가 받을 항목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재보험금 회수 (Debit) ↓ 출재사가 받을 항목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적립금 신규 (Credit)  ↑ 수재사 유보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적립금 환급 (Debit)   ↓ 이전 기간 반환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이자 (Debit)         ↓ 출재사가 받을 항목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이월잔액 B/F         → 자동 계산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─────────────────────────────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 정산금액 (Net Balance) → 방향 자동 결정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896112"/>
            <a:ext cx="4288536" cy="137160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91456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정산서 생성 절차 — /account-currents/new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91456" y="1316736"/>
            <a:ext cx="39593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정산서 관리 (4) → + 정산서 생성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계약 · 수재사 · 정산 기간 입력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중복 기간 경고 확인 후 진행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생성 → 시스템 자동 집계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항목별 집계 금액 확인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2340864"/>
            <a:ext cx="4288536" cy="969264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91456" y="245059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B/F (Balance Brought Forward) 자동 계산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91456" y="2761488"/>
            <a:ext cx="3959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직전 SOA net_balance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− 직전 SOA에 매칭된 Settlement 합계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3383280"/>
            <a:ext cx="4288536" cy="877824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91456" y="349300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방향 자동 결정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3803904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net_balance &gt; 0 → to_reinsurer (출재사 → 수재사 지급)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net_balance &lt; 0 → to_cedant (수재사 → 출재사 지급)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364992"/>
            <a:ext cx="4288536" cy="146304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93192" y="347472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규칙: 수재사별 별도 SOA 발행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" y="3785616"/>
            <a:ext cx="39593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계약이라도 수재사가 다르면 각각 별도 정산서 생성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초안(Draft) 상태에서만 내용 수정 가능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승인 요청 → 5단계로 진행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34"/>
          </a:solidFill>
          <a:ln w="12700">
            <a:solidFill>
              <a:srgbClr val="162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및 승인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승인 → 발행 → 외부 확인(Acknowledge) — 상태 흐름에 따른 단계별 처리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1678838" cy="658368"/>
          </a:xfrm>
          <a:prstGeom prst="rect">
            <a:avLst/>
          </a:prstGeom>
          <a:solidFill>
            <a:srgbClr val="243554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896112"/>
            <a:ext cx="16788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07438" y="1207008"/>
            <a:ext cx="7315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980590" y="896112"/>
            <a:ext cx="1678838" cy="658368"/>
          </a:xfrm>
          <a:prstGeom prst="rect">
            <a:avLst/>
          </a:prstGeom>
          <a:solidFill>
            <a:srgbClr val="243554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980590" y="896112"/>
            <a:ext cx="16788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승인대기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9429" y="1207008"/>
            <a:ext cx="7315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732581" y="896112"/>
            <a:ext cx="1678838" cy="658368"/>
          </a:xfrm>
          <a:prstGeom prst="rect">
            <a:avLst/>
          </a:prstGeom>
          <a:solidFill>
            <a:srgbClr val="243554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732581" y="896112"/>
            <a:ext cx="16788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Approved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11419" y="1207008"/>
            <a:ext cx="7315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84571" y="896112"/>
            <a:ext cx="1678838" cy="658368"/>
          </a:xfrm>
          <a:prstGeom prst="rect">
            <a:avLst/>
          </a:prstGeom>
          <a:solidFill>
            <a:srgbClr val="243554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4571" y="896112"/>
            <a:ext cx="16788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Issued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63410" y="1207008"/>
            <a:ext cx="7315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236562" y="896112"/>
            <a:ext cx="1678838" cy="658368"/>
          </a:xfrm>
          <a:prstGeom prst="rect">
            <a:avLst/>
          </a:prstGeom>
          <a:solidFill>
            <a:srgbClr val="243554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236562" y="896112"/>
            <a:ext cx="16788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Acknowledged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32581" y="1647149"/>
            <a:ext cx="3693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이의 있는 경우 분기: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32581" y="1884893"/>
            <a:ext cx="1678838" cy="530352"/>
          </a:xfrm>
          <a:prstGeom prst="rect">
            <a:avLst/>
          </a:prstGeom>
          <a:solidFill>
            <a:srgbClr val="243554"/>
          </a:solidFill>
          <a:ln w="1524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732581" y="1884893"/>
            <a:ext cx="16788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Disputed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이의신청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11420" y="2150069"/>
            <a:ext cx="73152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484572" y="1884893"/>
            <a:ext cx="1678838" cy="530352"/>
          </a:xfrm>
          <a:prstGeom prst="rect">
            <a:avLst/>
          </a:prstGeom>
          <a:solidFill>
            <a:srgbClr val="243554"/>
          </a:solidFill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4572" y="1884893"/>
            <a:ext cx="16788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Cancelled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63410" y="2150069"/>
            <a:ext cx="73152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236562" y="1884893"/>
            <a:ext cx="1678838" cy="530352"/>
          </a:xfrm>
          <a:prstGeom prst="rect">
            <a:avLst/>
          </a:prstGeom>
          <a:solidFill>
            <a:srgbClr val="243554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36562" y="1884893"/>
            <a:ext cx="16788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Draft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재발행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560320"/>
            <a:ext cx="4288536" cy="226771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93192" y="267004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브로커(내부) 담당자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" y="2980944"/>
            <a:ext cx="395935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정산서 상세 → 승인 요청 버튼 클릭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관리자가 내용 검토 후 승인 버튼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승인 후 발행 버튼 → 토큰 URL 생성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수재사/출재사에게 공유 링크 발송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화면: /account-currents/{id}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26864" y="2560320"/>
            <a:ext cx="4288536" cy="226771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791456" y="267004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뷰어 (수재사/출재사)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91456" y="2980944"/>
            <a:ext cx="395935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이메일 공유 링크 접속 (로그인 불필요)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정산서 내용 검토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확인(Acknowledge) 버튼 클릭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이의 있는 경우 이의신청(Dispute) 버튼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링크: /share/{token} — 30일 유효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34"/>
          </a:solidFill>
          <a:ln w="12700">
            <a:solidFill>
              <a:srgbClr val="162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처리 (송수금)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Settlement — 송금·수금 등록 및 SOA 매칭으로 미청산 잔액 청산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4288536" cy="1755648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3192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입력 항목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316736"/>
            <a:ext cx="39593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유형: 수금(Receipt) / 송금(Payment)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거래상대방: 송금 또는 수금 상대방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 · 통화 선택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정산일: 실제 입금/출금일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메모: 은행 참조번호 등 내부 메모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896112"/>
            <a:ext cx="4288536" cy="1755648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91456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절차 — URL: /settlements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91456" y="1316736"/>
            <a:ext cx="39593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결제 관리 (6) 클릭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+ 정산 등록 → 수금/송금 등록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매칭 패널에서 SOA 선택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매칭 확정 → 정산서 미청산 잔액 감소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724912"/>
            <a:ext cx="8686800" cy="126187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3192" y="2834640"/>
            <a:ext cx="8357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매칭(Matching) 개념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" y="3145536"/>
            <a:ext cx="8357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SOA 발행 → 미청산 상태 → 송금/수금 등록 → 매칭 패널에서 SOA 연결 → 매칭 확정 시 SOA 미청산 잔액 감소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정산에 여러 SOA 분할 매칭 또는 하나의 SOA에 여러 정산 매칭 복합 지원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4059936"/>
            <a:ext cx="8686800" cy="768096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93192" y="4169664"/>
            <a:ext cx="8357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SOA 승인·발행 후 연결 거래 수정 차단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" y="4480560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SOA 승인 또는 발행 이후 연결된 거래(명세·거래내역)의 수정은 차단됩니다.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수정이 필요한 경우 SOA를 취소(Cancelled)한 후 새 정산서를 재발행하세요.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34"/>
          </a:solidFill>
          <a:ln w="12700">
            <a:solidFill>
              <a:srgbClr val="162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미수·미지급금 관리 (AR/AP)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Outstanding — Aging 구간 분석으로 연체 현황 파악 및 독촉 관리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1664208" cy="877824"/>
          </a:xfrm>
          <a:prstGeom prst="rect">
            <a:avLst/>
          </a:prstGeom>
          <a:solidFill>
            <a:srgbClr val="24355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9326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~ 30일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" y="12801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범위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처리 권고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84248" y="896112"/>
            <a:ext cx="1664208" cy="877824"/>
          </a:xfrm>
          <a:prstGeom prst="rect">
            <a:avLst/>
          </a:prstGeom>
          <a:solidFill>
            <a:srgbClr val="243554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984248" y="9326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~ 60일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84248" y="12801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필요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확인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39896" y="896112"/>
            <a:ext cx="1664208" cy="877824"/>
          </a:xfrm>
          <a:prstGeom prst="rect">
            <a:avLst/>
          </a:prstGeom>
          <a:solidFill>
            <a:srgbClr val="243554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739896" y="9326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 ~ 90일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39896" y="12801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연체 주의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독촉 발송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95544" y="896112"/>
            <a:ext cx="1664208" cy="877824"/>
          </a:xfrm>
          <a:prstGeom prst="rect">
            <a:avLst/>
          </a:prstGeom>
          <a:solidFill>
            <a:srgbClr val="243554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95544" y="9326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73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 ~ 180일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95544" y="12801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상계 검토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51192" y="896112"/>
            <a:ext cx="1664208" cy="877824"/>
          </a:xfrm>
          <a:prstGeom prst="rect">
            <a:avLst/>
          </a:prstGeom>
          <a:solidFill>
            <a:srgbClr val="243554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251192" y="9326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180일+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51192" y="12801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 연체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조치 검토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1847088"/>
            <a:ext cx="8686800" cy="1298448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93192" y="1956816"/>
            <a:ext cx="8357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미청산 잔액 현황 테이블 — 주요 컬럼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" y="2267712"/>
            <a:ext cx="83576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거래상대방  |  계약 / SOA 번호  |  발생일 / 만기일  |  금액(통화별)  |  Aging 구간  |  상태(정상/연체/분쟁)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필터: 거래상대방 · 계약 · 날짜 범위 · 방향(수취/지급) · 통화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카드: 총 미청산 잔액 · 연체 비율 · 통화별 수취/지급 소계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218688"/>
            <a:ext cx="8686800" cy="1609344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93192" y="3328416"/>
            <a:ext cx="8357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절차 — URL: /outstanding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" y="3639312"/>
            <a:ext cx="83576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미청산 잔액 (7) 클릭 → Aging 테이블 조회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거래상대방 · 계약 · 날짜 범위로 필터링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61일+ Aging 구간 우선 확인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연체 건 독촉 발송 또는 상계 처리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34"/>
          </a:solidFill>
          <a:ln w="12700">
            <a:solidFill>
              <a:srgbClr val="162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회계 마감 및 보고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 &amp; Reporting — 계약별·거래상대방별·통화별 손익 및 내보내기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4288536" cy="182880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3192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 유형 3종 — URL: /reports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316736"/>
            <a:ext cx="3959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계약별 손익: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계약별 출재보험료 · 보험금 · 수수료 · 순손익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거래상대방별 잔액: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수재사별 미청산 잔액 요약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통화별 포지션: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외화별 미청산 잔액 (환율 리스크 관리)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896112"/>
            <a:ext cx="4288536" cy="182880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91456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 조회 절차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91456" y="1316736"/>
            <a:ext cx="3959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보고서 (8) 클릭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기간 · 계약 · 거래상대방 필터 선택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조회 버튼 → 결과 확인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PDF 내보내기 또는 CSV 내보내기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798064"/>
            <a:ext cx="4288536" cy="171907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3192" y="290779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환율 관리 — /exchange-rates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" y="3218688"/>
            <a:ext cx="39593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다통화 환율 이력 등록 및 관리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환율 미등록 시 해당 통화 거래 저장 차단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환율 등록 후 거래 재입력 필요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통화 추가: 관리자 마스터 등록으로 확장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2798064"/>
            <a:ext cx="4288536" cy="171907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91456" y="290779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 관리 — /reconciliation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3218688"/>
            <a:ext cx="39593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브로커 장부 vs 거래상대방 장부 대사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 항목 식별 및 조정 처리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대사로 데이터 정합성 확보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4590288"/>
            <a:ext cx="8686800" cy="237744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93192" y="4700016"/>
            <a:ext cx="8357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후 수정 차단 규칙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" y="5010912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SOA 승인·발행 후 연결 거래 수정 차단 — 취소(Cancelled) 후 새 SOA 재발행 필요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34"/>
          </a:solidFill>
          <a:ln w="12700">
            <a:solidFill>
              <a:srgbClr val="162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비즈니스 규칙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시스템이 자동 검증하는 10가지 규칙 — 오류 메시지 발생 시 참조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4288536" cy="727862"/>
          </a:xfrm>
          <a:prstGeom prst="rect">
            <a:avLst/>
          </a:prstGeom>
          <a:solidFill>
            <a:srgbClr val="2A3F61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3192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특약 한도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316736"/>
            <a:ext cx="395935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위험기간 ⊂ 계약기간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초과 시 검증 오류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896112"/>
            <a:ext cx="4288536" cy="72786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91456" y="10058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통화 일치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91456" y="1316736"/>
            <a:ext cx="395935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통화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정산통화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697126"/>
            <a:ext cx="4288536" cy="72786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3192" y="180685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출재비율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" y="2117750"/>
            <a:ext cx="395935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&lt; 비율 ≤ 100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초과 입력 → ÷100 자동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697126"/>
            <a:ext cx="4288536" cy="727862"/>
          </a:xfrm>
          <a:prstGeom prst="rect">
            <a:avLst/>
          </a:prstGeom>
          <a:solidFill>
            <a:srgbClr val="2A3F61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91456" y="180685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출재보험료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2117750"/>
            <a:ext cx="395935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ceded = original × cession_pct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(±1원 허용)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498141"/>
            <a:ext cx="4288536" cy="72786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93192" y="2607869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재보험금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" y="2918765"/>
            <a:ext cx="395935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recoverable = (paid + os_reserve)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 cession_pct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2498141"/>
            <a:ext cx="4288536" cy="72786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91456" y="2607869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Cash Loss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91456" y="2918765"/>
            <a:ext cx="395935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손해액 &gt; threshold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Cash Loss 체크 권고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299155"/>
            <a:ext cx="4288536" cy="727862"/>
          </a:xfrm>
          <a:prstGeom prst="rect">
            <a:avLst/>
          </a:prstGeom>
          <a:solidFill>
            <a:srgbClr val="2A3F61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93192" y="3408883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지분율 합계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" y="3719779"/>
            <a:ext cx="395935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Treaty 수재사 지분율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 = 반드시 100%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26864" y="3299155"/>
            <a:ext cx="4288536" cy="72786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791456" y="3408883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이월잔액 B/F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91456" y="3719779"/>
            <a:ext cx="395935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직전 SOA net_balance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매칭 Settlement 합계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4100170"/>
            <a:ext cx="4288536" cy="727862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93192" y="420989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정산서 취소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3192" y="4520794"/>
            <a:ext cx="395935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Disputed 해결: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Cancelled → 새 Draft 재발행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26864" y="4100170"/>
            <a:ext cx="4288536" cy="727862"/>
          </a:xfrm>
          <a:prstGeom prst="rect">
            <a:avLst/>
          </a:prstGeom>
          <a:solidFill>
            <a:srgbClr val="2A3F61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791456" y="420989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후 수정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91456" y="4520794"/>
            <a:ext cx="395935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SOA 승인·발행 후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거래 수정 차단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재보험 정청산 관리 시스템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2763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등록부터 회계 마감까지 — 8단계 완전 자동화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321040" cy="27432"/>
          </a:xfrm>
          <a:prstGeom prst="rect">
            <a:avLst/>
          </a:prstGeom>
          <a:solidFill>
            <a:srgbClr val="2E4068"/>
          </a:solidFill>
          <a:ln w="12700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28600" y="2286000"/>
            <a:ext cx="2822448" cy="146304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3192" y="2395728"/>
            <a:ext cx="249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8단계 워크플로우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706624"/>
            <a:ext cx="2493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→ 명세 → SOA 생성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승인 → 송수금 → 보고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60776" y="2286000"/>
            <a:ext cx="2822448" cy="146304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325368" y="2395728"/>
            <a:ext cx="249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4가지 역할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25368" y="2706624"/>
            <a:ext cx="2493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브로커 실무자·관리자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출재사·수재사 뷰어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2952" y="2286000"/>
            <a:ext cx="2822448" cy="1463040"/>
          </a:xfrm>
          <a:prstGeom prst="rect">
            <a:avLst/>
          </a:prstGeom>
          <a:solidFill>
            <a:srgbClr val="243554"/>
          </a:solidFill>
          <a:ln w="9525">
            <a:solidFill>
              <a:srgbClr val="2E40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57544" y="2395728"/>
            <a:ext cx="249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&amp; 검증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57544" y="2706624"/>
            <a:ext cx="2493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집계·B/F·방향 자동계산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10가지 비즈니스 규칙 검증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v1.4  |  2026-04-30  |  문의: 브로커 내부 시스템 관리자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1958</Words>
  <Application>Microsoft Office PowerPoint</Application>
  <PresentationFormat>화면 슬라이드 쇼(16:9)</PresentationFormat>
  <Paragraphs>363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재보험 정청산 관리 시스템</dc:title>
  <dc:subject>PptxGenJS Presentation</dc:subject>
  <dc:creator>바이브코딩랩</dc:creator>
  <cp:lastModifiedBy>태교 인</cp:lastModifiedBy>
  <cp:revision>2</cp:revision>
  <dcterms:created xsi:type="dcterms:W3CDTF">2026-05-03T23:45:41Z</dcterms:created>
  <dcterms:modified xsi:type="dcterms:W3CDTF">2026-05-03T23:52:13Z</dcterms:modified>
</cp:coreProperties>
</file>